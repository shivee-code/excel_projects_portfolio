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3B62-8CEF-18EA-AED8-1F5220BA1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5FAA8-7D7D-2FD2-DE9F-D36B14AD5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0265A-9A35-C3D5-7C70-2C1D8A64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7EA46-6A99-FF02-A467-D65B015E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7CD52-CA43-532F-B884-17E042AB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12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02E49-3D37-63D9-BB48-FCEF293A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FA7B5-A760-AF0B-929D-29627324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F9546-8F53-1843-57C0-F4D5E88E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2BD0E-522E-1100-1BF1-D482A3EE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8BF38-FB12-39E1-1FFD-E8930E49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3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AC1E-134D-49D1-EC30-14D5AD38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39C34-8B65-73D2-8EA9-64EEAA58C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37BF-E2D4-9BAC-8D5B-C0F206B4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7ED55-13C3-DE22-428D-84077097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7B3EC-5073-63EE-8240-89D3E4D3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6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5AF3-FCB3-7642-F110-CF336E31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4ACB0-1993-8B53-8DA7-D2B9B4980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E0283-D767-DE5E-4440-126BC2599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60BAE-FF55-5EE4-5F49-AA09DC08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989BE-26B9-085F-8742-462375837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3AEE0-6905-60AB-D0E2-6A997ADD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4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422D-B7E3-4FD0-0531-9602509D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05136-1D01-213B-6F55-1C05871F1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53752-1673-B002-6BEE-D76F3D13F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2B347-C831-357F-3137-12BA7FEB6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6861E-A8D8-5DD7-E641-165D9BCDE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3AFE4-9FFD-EA57-2990-DA6E3C54E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C36A6-324F-1FAF-E103-1F9EFCF6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1AE9F-14EA-45A4-7CA3-F1C70268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11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933F-BF83-984C-CFBE-77AEF40C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1B4C6-3917-EFD7-5B6A-369A2C6B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C9865-3DD9-99F7-6913-27878DCA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6748B-F30E-99FC-9BE6-D1522481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26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DDEC6-6338-9465-015D-75573E41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D8C2A-C6CB-8BEE-B179-C3E22CC3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50341-A520-7312-14EC-E8C181F6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4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35EE-D9BA-93B0-B598-AAABA5CE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1261A-DDB4-2305-DB80-DD7D0C54A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4E927-3986-06FA-B1CE-665F576C6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5A5F6-8526-8976-563F-830EC685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57049-C071-F4D2-93F0-C65CDC65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4F925-F007-B5C4-BF9E-6AE90117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57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6A28-5574-666C-47FE-9D2637FD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DBF0B-1294-FC03-1223-A003BB81D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C7DBB-9559-45D7-D99D-FEEBC61D0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1A27C-2FC9-C06E-64B9-78C532D7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C7769-DBAD-20EC-BCB3-30255F0C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0AACB-D9E3-3AAD-A0B2-4921FA9C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75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DB3D-522B-360F-142B-4F298B9E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CC27B-BDCA-2A89-9DBE-ADBCF3703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9832E-A202-73AC-42A9-D591C077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203CD-7AE0-C3F6-8629-50D1C374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6354A-0913-9B0D-47B2-81038026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990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3AB50D-21FB-1097-9B1D-D79067A48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1DD1D-BA64-3F23-D00D-397377A44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3166C-2CAF-9514-EF4B-7B94AB73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FD943-6495-602B-69E5-47F2B226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412ED-BF54-4604-0338-5A79B9DE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B4037-52A5-ED1F-CDE3-03731F7C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2A70A-589E-7B1B-A031-2B63E242F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3F6B-5C69-FAEE-205E-2E4E701B7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BC744-3643-4CD9-8692-5E0DB10C24E8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CD5D7-7E63-0E72-7E7F-BCDF075AF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AA529-F385-888D-1CE5-FD10E2FAA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11DC2-6BAC-4E27-B18A-5D97BABE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9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AAE5-200E-9B69-E808-8D4D8218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0580" y="1406013"/>
            <a:ext cx="8357419" cy="210395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86AEB-14AD-916C-6984-7459A0DA8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90285-0ADA-FBCB-3B32-520EDA727F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8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71894E-0237-D73A-A370-F32F91997044}"/>
              </a:ext>
            </a:extLst>
          </p:cNvPr>
          <p:cNvSpPr/>
          <p:nvPr/>
        </p:nvSpPr>
        <p:spPr>
          <a:xfrm>
            <a:off x="0" y="0"/>
            <a:ext cx="12192000" cy="766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8B853-3887-8F51-2131-6705D5B2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181" y="9832"/>
            <a:ext cx="2633638" cy="767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30F83F-F5CE-8DB2-C743-722A2FB19676}"/>
              </a:ext>
            </a:extLst>
          </p:cNvPr>
          <p:cNvSpPr txBox="1"/>
          <p:nvPr/>
        </p:nvSpPr>
        <p:spPr>
          <a:xfrm>
            <a:off x="4355690" y="955304"/>
            <a:ext cx="3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PROBLEM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F7718-0706-024A-4F07-1F93F4A44258}"/>
              </a:ext>
            </a:extLst>
          </p:cNvPr>
          <p:cNvSpPr txBox="1"/>
          <p:nvPr/>
        </p:nvSpPr>
        <p:spPr>
          <a:xfrm>
            <a:off x="221225" y="1692033"/>
            <a:ext cx="9340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u="sng" dirty="0">
                <a:solidFill>
                  <a:schemeClr val="bg1"/>
                </a:solidFill>
                <a:highlight>
                  <a:srgbClr val="008000"/>
                </a:highlight>
              </a:rPr>
              <a:t>KPI’s: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C482C-A84A-E3C5-C214-BC79F82EA8B0}"/>
              </a:ext>
            </a:extLst>
          </p:cNvPr>
          <p:cNvSpPr txBox="1"/>
          <p:nvPr/>
        </p:nvSpPr>
        <p:spPr>
          <a:xfrm>
            <a:off x="334300" y="2133529"/>
            <a:ext cx="11857700" cy="308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Total Sales (₹) –</a:t>
            </a:r>
            <a:r>
              <a:rPr lang="en-IN" sz="2000" dirty="0"/>
              <a:t> Overall revenue generated from food orders.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Average Rating –</a:t>
            </a:r>
            <a:r>
              <a:rPr lang="en-IN" sz="2000" dirty="0"/>
              <a:t> Customer satisfaction level across all restaurants.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Average Order Value(₹) –</a:t>
            </a:r>
            <a:r>
              <a:rPr lang="en-IN" sz="2000" dirty="0"/>
              <a:t> Revenue per Order.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Ratings Count –</a:t>
            </a:r>
            <a:r>
              <a:rPr lang="en-IN" sz="2000" dirty="0"/>
              <a:t> Total number of costumer reviews.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Total Orders –</a:t>
            </a:r>
            <a:r>
              <a:rPr lang="en-IN" sz="2000" dirty="0"/>
              <a:t> Number of food orders received.</a:t>
            </a:r>
          </a:p>
        </p:txBody>
      </p:sp>
    </p:spTree>
    <p:extLst>
      <p:ext uri="{BB962C8B-B14F-4D97-AF65-F5344CB8AC3E}">
        <p14:creationId xmlns:p14="http://schemas.microsoft.com/office/powerpoint/2010/main" val="295744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C3E008-AFD0-5874-761C-EC6A0CEEA5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8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FB7738-071D-62CD-5641-388E63E4D63A}"/>
              </a:ext>
            </a:extLst>
          </p:cNvPr>
          <p:cNvSpPr/>
          <p:nvPr/>
        </p:nvSpPr>
        <p:spPr>
          <a:xfrm>
            <a:off x="0" y="0"/>
            <a:ext cx="12192000" cy="766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BBF6E-477E-1869-4C41-CE94D3A1C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181" y="9832"/>
            <a:ext cx="2633638" cy="767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4442FD-D431-1798-9778-A7B54472111A}"/>
              </a:ext>
            </a:extLst>
          </p:cNvPr>
          <p:cNvSpPr txBox="1"/>
          <p:nvPr/>
        </p:nvSpPr>
        <p:spPr>
          <a:xfrm>
            <a:off x="221225" y="954614"/>
            <a:ext cx="63762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u="sng" dirty="0">
                <a:solidFill>
                  <a:schemeClr val="bg1"/>
                </a:solidFill>
                <a:highlight>
                  <a:srgbClr val="008000"/>
                </a:highlight>
              </a:rPr>
              <a:t>CREATE NEW DATA COLUMN’s: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327B4-D2F9-B753-C01E-7DD731EE7395}"/>
              </a:ext>
            </a:extLst>
          </p:cNvPr>
          <p:cNvSpPr txBox="1"/>
          <p:nvPr/>
        </p:nvSpPr>
        <p:spPr>
          <a:xfrm>
            <a:off x="304798" y="1396105"/>
            <a:ext cx="1188720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Day (Sun, Mon, .. Sat) –</a:t>
            </a:r>
            <a:r>
              <a:rPr lang="en-IN" sz="2000" dirty="0"/>
              <a:t> Formula </a:t>
            </a:r>
            <a:r>
              <a:rPr lang="en-IN" sz="2000" dirty="0">
                <a:highlight>
                  <a:srgbClr val="FFFF00"/>
                </a:highlight>
              </a:rPr>
              <a:t>=TEXT([@[Order Date]],"</a:t>
            </a:r>
            <a:r>
              <a:rPr lang="en-IN" sz="2000" dirty="0" err="1">
                <a:highlight>
                  <a:srgbClr val="FFFF00"/>
                </a:highlight>
              </a:rPr>
              <a:t>ddd</a:t>
            </a:r>
            <a:r>
              <a:rPr lang="en-IN" sz="2000" dirty="0">
                <a:highlight>
                  <a:srgbClr val="FFFF00"/>
                </a:highlight>
              </a:rPr>
              <a:t>")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Quarter (Q1, Q2, Q3) –</a:t>
            </a:r>
            <a:r>
              <a:rPr lang="en-IN" sz="2000" dirty="0"/>
              <a:t> Formula </a:t>
            </a:r>
            <a:r>
              <a:rPr lang="en-US" sz="2000" dirty="0">
                <a:highlight>
                  <a:srgbClr val="FFFF00"/>
                </a:highlight>
              </a:rPr>
              <a:t>="Q"&amp;INT((MONTH([@[Order Date]])-1)/3)+1</a:t>
            </a:r>
            <a:endParaRPr lang="en-IN" sz="20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Week (Week in Year) –</a:t>
            </a:r>
            <a:r>
              <a:rPr lang="en-IN" sz="2000" dirty="0"/>
              <a:t> Formula </a:t>
            </a:r>
            <a:r>
              <a:rPr lang="en-IN" sz="2000" dirty="0">
                <a:highlight>
                  <a:srgbClr val="FFFF00"/>
                </a:highlight>
              </a:rPr>
              <a:t>=WEEKNUM([@[Order Date]])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/>
              <a:t>Food Type (Veg &amp; Non-Veg) –</a:t>
            </a:r>
            <a:r>
              <a:rPr lang="en-IN" sz="2000" dirty="0"/>
              <a:t> Formula  </a:t>
            </a:r>
            <a:r>
              <a:rPr lang="en-IN" sz="2000" dirty="0">
                <a:highlight>
                  <a:srgbClr val="FFFF00"/>
                </a:highlight>
              </a:rPr>
              <a:t>=IF(OR(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ISNUMBER(SEARCH("chicken",J3)),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ISNUMBER(SEARCH("egg",J3)),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ISNUMBER(SEARCH("fish",J3)),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ISNUMBER(SEARCH("mutton",J3)),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ISNUMBER(SEARCH("prawn",J3)),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ISNUMBER(SEARCH("biryani",J3)),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ISNUMBER(SEARCH("kabab",J3)),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ISNUMBER(SEARCH("kebab",J3)),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ISNUMBER(SEARCH("Non-Veg",J3)),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ISNUMBER(SEARCH("non-veg",J3))</a:t>
            </a:r>
          </a:p>
          <a:p>
            <a:r>
              <a:rPr lang="en-IN" sz="2000" dirty="0"/>
              <a:t>				          </a:t>
            </a:r>
            <a:r>
              <a:rPr lang="en-IN" sz="2000" dirty="0">
                <a:highlight>
                  <a:srgbClr val="FFFF00"/>
                </a:highlight>
              </a:rPr>
              <a:t>),"Non-</a:t>
            </a:r>
            <a:r>
              <a:rPr lang="en-IN" sz="2000" dirty="0" err="1">
                <a:highlight>
                  <a:srgbClr val="FFFF00"/>
                </a:highlight>
              </a:rPr>
              <a:t>Veg","Veg</a:t>
            </a:r>
            <a:r>
              <a:rPr lang="en-IN" sz="2000" dirty="0">
                <a:highlight>
                  <a:srgbClr val="FFFF00"/>
                </a:highlight>
              </a:rPr>
              <a:t>")</a:t>
            </a:r>
            <a:endParaRPr lang="en-IN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530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BAC4BD-C001-AB38-4BBD-945B20D0C6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8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F54199-C4AD-61A2-2B96-86B140F4DFC0}"/>
              </a:ext>
            </a:extLst>
          </p:cNvPr>
          <p:cNvSpPr/>
          <p:nvPr/>
        </p:nvSpPr>
        <p:spPr>
          <a:xfrm>
            <a:off x="0" y="0"/>
            <a:ext cx="12192000" cy="766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891B5-DB2E-BFBF-DAA1-DE2374DCC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181" y="9832"/>
            <a:ext cx="2633638" cy="767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BB25E-8F95-016A-79B4-76EC489F20CC}"/>
              </a:ext>
            </a:extLst>
          </p:cNvPr>
          <p:cNvSpPr txBox="1"/>
          <p:nvPr/>
        </p:nvSpPr>
        <p:spPr>
          <a:xfrm>
            <a:off x="221225" y="954614"/>
            <a:ext cx="14404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u="sng" dirty="0">
                <a:solidFill>
                  <a:schemeClr val="bg1"/>
                </a:solidFill>
                <a:highlight>
                  <a:srgbClr val="008000"/>
                </a:highlight>
              </a:rPr>
              <a:t>CHART’s: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41A5F-23DA-36B0-D5E1-ECFF80475EFD}"/>
              </a:ext>
            </a:extLst>
          </p:cNvPr>
          <p:cNvSpPr txBox="1"/>
          <p:nvPr/>
        </p:nvSpPr>
        <p:spPr>
          <a:xfrm>
            <a:off x="304798" y="1396105"/>
            <a:ext cx="11887201" cy="431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Monthly Sales Trend –</a:t>
            </a:r>
            <a:r>
              <a:rPr lang="en-IN" sz="2000" dirty="0"/>
              <a:t> Shows how total sales fluctuate month by month.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Daily Sales Trend –</a:t>
            </a:r>
            <a:r>
              <a:rPr lang="en-IN" sz="2000" dirty="0"/>
              <a:t> Highlights order and revenue variations across days of the week.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Total Sales by Food Type (Veg vs Non-Veg) –</a:t>
            </a:r>
            <a:r>
              <a:rPr lang="en-IN" sz="2000" dirty="0"/>
              <a:t> Compares revenue contribution by cuisine type.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Total Sales by State (Map Visualization) –</a:t>
            </a:r>
            <a:r>
              <a:rPr lang="en-IN" sz="2000" dirty="0"/>
              <a:t> Displays state-wise revenue distribution.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Quarterly Performance Summary –</a:t>
            </a:r>
            <a:r>
              <a:rPr lang="en-IN" sz="2000" dirty="0"/>
              <a:t> Combine Sales, Ratings, and Orders by Quarter.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Top 5 Cities by Sales – </a:t>
            </a:r>
            <a:r>
              <a:rPr lang="en-IN" sz="2000" dirty="0"/>
              <a:t>Identifies leading cities contributing the most revenue.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Weekly Trend Analysis – </a:t>
            </a:r>
            <a:r>
              <a:rPr lang="en-IN" sz="2000" dirty="0"/>
              <a:t>Monitors weekly fluctuations in sales to identify consistency or peak periods.</a:t>
            </a:r>
          </a:p>
        </p:txBody>
      </p:sp>
    </p:spTree>
    <p:extLst>
      <p:ext uri="{BB962C8B-B14F-4D97-AF65-F5344CB8AC3E}">
        <p14:creationId xmlns:p14="http://schemas.microsoft.com/office/powerpoint/2010/main" val="79025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379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Yadav</dc:creator>
  <cp:lastModifiedBy>Shivam Yadav</cp:lastModifiedBy>
  <cp:revision>2</cp:revision>
  <dcterms:created xsi:type="dcterms:W3CDTF">2026-01-09T19:01:06Z</dcterms:created>
  <dcterms:modified xsi:type="dcterms:W3CDTF">2026-01-09T19:23:05Z</dcterms:modified>
</cp:coreProperties>
</file>